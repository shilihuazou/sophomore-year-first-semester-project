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1" r:id="rId7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7157" autoAdjust="0"/>
  </p:normalViewPr>
  <p:slideViewPr>
    <p:cSldViewPr snapToGrid="0">
      <p:cViewPr varScale="1">
        <p:scale>
          <a:sx n="160" d="100"/>
          <a:sy n="160" d="100"/>
        </p:scale>
        <p:origin x="2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565681E-E30C-4A6F-BC2F-235FE64F5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100B11F7-3F0B-4BB6-935F-4C90B648F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8F962E08-7EF9-4873-808D-50CD199D6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1747AEA-06D0-485C-9BD5-E233E352C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AA518875-8CD5-478B-988E-1A5517FA9C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B05F9F2-A8F4-4CFF-AF4D-8D47396F8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410DEB3-68E8-40EC-BD8A-02AACA8E0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77CC2AC9-EA28-44BF-B6E1-564A5F65FC0F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D096B110-B630-431A-A065-4C656E57A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2C6F5AB-9B12-42D1-BFBC-8DD14159E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D9752AD0-2F52-4D87-A58A-2ECBD46CB7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487" b="124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64233CA-712A-41D4-A6D3-16DE83DBE02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42E39">
              <a:alpha val="85000"/>
            </a:srgbClr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EF4C23-74F7-442E-9E6E-732EA5BB1034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10972800" cy="600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8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buNone/>
              <a:defRPr sz="28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基于 KQGIS 的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43F8F12-B6AA-4EAE-BFAB-358F40BA35B9}"/>
              </a:ext>
            </a:extLst>
          </p:cNvPr>
          <p:cNvSpPr>
            <a:spLocks noGrp="1"/>
          </p:cNvSpPr>
          <p:nvPr/>
        </p:nvSpPr>
        <p:spPr>
          <a:xfrm>
            <a:off x="609600" y="2590800"/>
            <a:ext cx="1097280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buNone/>
              <a:def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地质灾害监测救援部署系统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A834EFF-A9FC-4B54-BCD5-F6E37FEB1FA7}"/>
              </a:ext>
            </a:extLst>
          </p:cNvPr>
          <p:cNvSpPr>
            <a:spLocks noGrp="1"/>
          </p:cNvSpPr>
          <p:nvPr/>
        </p:nvSpPr>
        <p:spPr>
          <a:xfrm>
            <a:off x="609600" y="383857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400" b="0">
                <a:solidFill>
                  <a:srgbClr val="DAE9E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buNone/>
              <a:defRPr sz="2400" b="0">
                <a:solidFill>
                  <a:srgbClr val="DAE9E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DAE9EA"/>
                </a:solidFill>
                <a:latin typeface="Microsoft YaHei"/>
                <a:ea typeface="Microsoft YaHei"/>
                <a:cs typeface="Microsoft YaHei"/>
              </a:rPr>
              <a:t>以吉隆口岸泥石流灾害为例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2FBC8F-18CD-41D4-BE85-774A70A20893}"/>
              </a:ext>
            </a:extLst>
          </p:cNvPr>
          <p:cNvSpPr>
            <a:spLocks noGrp="1"/>
          </p:cNvSpPr>
          <p:nvPr/>
        </p:nvSpPr>
        <p:spPr>
          <a:xfrm>
            <a:off x="609600" y="6381750"/>
            <a:ext cx="1097280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050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buNone/>
              <a:defRPr sz="1050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背景图：新华社 姜帆摄，2026.09.02 吉隆口岸救援现场</a:t>
            </a:r>
          </a:p>
        </p:txBody>
      </p:sp>
    </p:spTree>
    <p:extLst>
      <p:ext uri="{BB962C8B-B14F-4D97-AF65-F5344CB8AC3E}">
        <p14:creationId xmlns:p14="http://schemas.microsoft.com/office/powerpoint/2010/main" val="1232996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DA1BC21E-F658-4D84-B22E-EB43897070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429250" y="400050"/>
            <a:ext cx="5981700" cy="59817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9ECE247-C0B0-4460-A6B0-3169CD4349E7}"/>
              </a:ext>
            </a:extLst>
          </p:cNvPr>
          <p:cNvSpPr>
            <a:spLocks noGrp="1"/>
          </p:cNvSpPr>
          <p:nvPr/>
        </p:nvSpPr>
        <p:spPr>
          <a:xfrm>
            <a:off x="533400" y="1581150"/>
            <a:ext cx="4829175" cy="1485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我们赖以生活的</a:t>
            </a:r>
          </a:p>
          <a:p>
            <a:pPr>
              <a:buNone/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自然环境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FFB949-C927-4A17-BAB2-69B9DC70ECF5}"/>
              </a:ext>
            </a:extLst>
          </p:cNvPr>
          <p:cNvSpPr>
            <a:spLocks noGrp="1"/>
          </p:cNvSpPr>
          <p:nvPr/>
        </p:nvSpPr>
        <p:spPr>
          <a:xfrm>
            <a:off x="533400" y="3600450"/>
            <a:ext cx="478155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5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buNone/>
              <a:defRPr sz="25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正在经历怎样的变化？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76B0AF3-F4F9-46CD-82C1-FDB7E467FD12}"/>
              </a:ext>
            </a:extLst>
          </p:cNvPr>
          <p:cNvSpPr>
            <a:spLocks noGrp="1"/>
          </p:cNvSpPr>
          <p:nvPr/>
        </p:nvSpPr>
        <p:spPr>
          <a:xfrm>
            <a:off x="533400" y="5114925"/>
            <a:ext cx="478155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buNone/>
              <a:def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地质灾害与救援协同的思考</a:t>
            </a:r>
          </a:p>
        </p:txBody>
      </p:sp>
    </p:spTree>
    <p:extLst>
      <p:ext uri="{BB962C8B-B14F-4D97-AF65-F5344CB8AC3E}">
        <p14:creationId xmlns:p14="http://schemas.microsoft.com/office/powerpoint/2010/main" val="759263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7C149664-6550-443E-8801-401EFAC659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833" b="783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480756-C988-400A-B6D2-330238ECC62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819275"/>
          </a:xfrm>
          <a:prstGeom prst="rect">
            <a:avLst/>
          </a:prstGeom>
          <a:solidFill>
            <a:srgbClr val="142E39">
              <a:alpha val="90000"/>
            </a:srgbClr>
          </a:solidFill>
          <a:ln w="0">
            <a:noFill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D2E83F9-90EB-4AF0-A01A-0FEF7A76F59F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107632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3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buNone/>
              <a:defRPr sz="13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近期事件：吉隆口岸泥石流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D54FA1E-9160-4D94-BF8E-1340CCA92512}"/>
              </a:ext>
            </a:extLst>
          </p:cNvPr>
          <p:cNvSpPr>
            <a:spLocks noGrp="1"/>
          </p:cNvSpPr>
          <p:nvPr/>
        </p:nvSpPr>
        <p:spPr>
          <a:xfrm>
            <a:off x="533400" y="838200"/>
            <a:ext cx="10953750" cy="695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央视网消息：2026 年 8 月 26 日，10 时 30 分许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C5DFB0B-F303-40B4-810C-5E74F25D851C}"/>
              </a:ext>
            </a:extLst>
          </p:cNvPr>
          <p:cNvSpPr>
            <a:spLocks noGrp="1"/>
          </p:cNvSpPr>
          <p:nvPr/>
        </p:nvSpPr>
        <p:spPr>
          <a:xfrm>
            <a:off x="0" y="4438650"/>
            <a:ext cx="12192000" cy="2419350"/>
          </a:xfrm>
          <a:prstGeom prst="rect">
            <a:avLst/>
          </a:prstGeom>
          <a:solidFill>
            <a:srgbClr val="142E39">
              <a:alpha val="94000"/>
            </a:srgbClr>
          </a:solidFill>
          <a:ln w="0">
            <a:noFill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D6F8C74-63EA-46B8-80D1-2B946533F675}"/>
              </a:ext>
            </a:extLst>
          </p:cNvPr>
          <p:cNvSpPr>
            <a:spLocks noGrp="1"/>
          </p:cNvSpPr>
          <p:nvPr/>
        </p:nvSpPr>
        <p:spPr>
          <a:xfrm>
            <a:off x="533400" y="4705350"/>
            <a:ext cx="10810875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尼泊尔一侧发生冰岩崩塌泥石流，</a:t>
            </a:r>
          </a:p>
          <a:p>
            <a:pPr>
              <a:buNone/>
              <a:def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灾害波及西藏日喀则市吉隆县吉隆口岸。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3C72531-39C9-4EC5-AA06-EF6B8742E076}"/>
              </a:ext>
            </a:extLst>
          </p:cNvPr>
          <p:cNvSpPr>
            <a:spLocks noGrp="1"/>
          </p:cNvSpPr>
          <p:nvPr/>
        </p:nvSpPr>
        <p:spPr>
          <a:xfrm>
            <a:off x="533400" y="5724525"/>
            <a:ext cx="11049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buNone/>
              <a:def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应急管理部调派救援力量，国家二级救灾应急响应启动。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DBC4652-0D54-47E3-844D-6ADF2FDE0224}"/>
              </a:ext>
            </a:extLst>
          </p:cNvPr>
          <p:cNvSpPr>
            <a:spLocks noGrp="1"/>
          </p:cNvSpPr>
          <p:nvPr/>
        </p:nvSpPr>
        <p:spPr>
          <a:xfrm>
            <a:off x="533400" y="6381750"/>
            <a:ext cx="10572750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>
              <a:buNone/>
              <a:defRPr sz="11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资料：应急管理部、国家减灾中心；图：新华社 姜帆摄，2026.08.29 吉隆口岸受灾核心区</a:t>
            </a:r>
          </a:p>
        </p:txBody>
      </p:sp>
    </p:spTree>
    <p:extLst>
      <p:ext uri="{BB962C8B-B14F-4D97-AF65-F5344CB8AC3E}">
        <p14:creationId xmlns:p14="http://schemas.microsoft.com/office/powerpoint/2010/main" val="2004208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连接符: 肘形 30">
            <a:extLst>
              <a:ext uri="{FF2B5EF4-FFF2-40B4-BE49-F238E27FC236}">
                <a16:creationId xmlns:a16="http://schemas.microsoft.com/office/drawing/2014/main" id="{88C1D2EC-F021-4DFB-827E-D567E707E730}"/>
              </a:ext>
            </a:extLst>
          </p:cNvPr>
          <p:cNvCxnSpPr>
            <a:stCxn id="21" idx="0"/>
            <a:endCxn id="15" idx="2"/>
          </p:cNvCxnSpPr>
          <p:nvPr/>
        </p:nvCxnSpPr>
        <p:spPr>
          <a:xfrm flipV="1">
            <a:off x="6096000" y="4038600"/>
            <a:ext cx="4038600" cy="476250"/>
          </a:xfrm>
          <a:prstGeom prst="bentConnector4">
            <a:avLst/>
          </a:prstGeom>
          <a:ln w="19050">
            <a:solidFill>
              <a:srgbClr val="9DDED1"/>
            </a:solidFill>
            <a:headEnd type="triangle" w="sm" len="sm"/>
            <a:tailEnd type="triangle" w="sm" len="sm"/>
          </a:ln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6B6FEF6E-EB7E-40F5-B2C4-92DD09D083E4}"/>
              </a:ext>
            </a:extLst>
          </p:cNvPr>
          <p:cNvCxnSpPr>
            <a:stCxn id="21" idx="3"/>
            <a:endCxn id="24" idx="1"/>
          </p:cNvCxnSpPr>
          <p:nvPr/>
        </p:nvCxnSpPr>
        <p:spPr>
          <a:xfrm>
            <a:off x="7620000" y="5229225"/>
            <a:ext cx="990600" cy="0"/>
          </a:xfrm>
          <a:prstGeom prst="straightConnector1">
            <a:avLst/>
          </a:prstGeom>
          <a:ln w="19050">
            <a:solidFill>
              <a:srgbClr val="9DDED1"/>
            </a:solidFill>
            <a:headEnd type="triangle" w="sm" len="sm"/>
            <a:tailEnd type="triangle" w="sm" len="sm"/>
          </a:ln>
        </p:spPr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0C2B7B10-45ED-43F2-9B71-2BB4DC4BFCA2}"/>
              </a:ext>
            </a:extLst>
          </p:cNvPr>
          <p:cNvCxnSpPr>
            <a:stCxn id="18" idx="3"/>
            <a:endCxn id="21" idx="1"/>
          </p:cNvCxnSpPr>
          <p:nvPr/>
        </p:nvCxnSpPr>
        <p:spPr>
          <a:xfrm>
            <a:off x="3581400" y="5229225"/>
            <a:ext cx="990600" cy="0"/>
          </a:xfrm>
          <a:prstGeom prst="straightConnector1">
            <a:avLst/>
          </a:prstGeom>
          <a:ln w="19050">
            <a:solidFill>
              <a:srgbClr val="9DDED1"/>
            </a:solidFill>
            <a:headEnd type="triangle" w="sm" len="sm"/>
            <a:tailEnd type="triangle" w="sm" len="sm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C7FC88DA-6114-453F-B056-3085FE564EF1}"/>
              </a:ext>
            </a:extLst>
          </p:cNvPr>
          <p:cNvCxnSpPr>
            <a:stCxn id="12" idx="3"/>
            <a:endCxn id="15" idx="1"/>
          </p:cNvCxnSpPr>
          <p:nvPr/>
        </p:nvCxnSpPr>
        <p:spPr>
          <a:xfrm>
            <a:off x="7620000" y="3324225"/>
            <a:ext cx="990600" cy="0"/>
          </a:xfrm>
          <a:prstGeom prst="straightConnector1">
            <a:avLst/>
          </a:prstGeom>
          <a:ln w="19050">
            <a:solidFill>
              <a:srgbClr val="9DDED1"/>
            </a:solidFill>
            <a:tailEnd type="triangle" w="sm" len="sm"/>
          </a:ln>
        </p:spPr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97D571B6-13A8-4CB8-A1B8-98C3DBD08C08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3581400" y="3324225"/>
            <a:ext cx="990600" cy="0"/>
          </a:xfrm>
          <a:prstGeom prst="straightConnector1">
            <a:avLst/>
          </a:prstGeom>
          <a:ln w="19050">
            <a:solidFill>
              <a:srgbClr val="9DDED1"/>
            </a:solidFill>
            <a:tailEnd type="triangle" w="sm" len="sm"/>
          </a:ln>
        </p:spPr>
      </p:cxnSp>
      <p:sp>
        <p:nvSpPr>
          <p:cNvPr id="35" name="矩形 34">
            <a:extLst>
              <a:ext uri="{FF2B5EF4-FFF2-40B4-BE49-F238E27FC236}">
                <a16:creationId xmlns:a16="http://schemas.microsoft.com/office/drawing/2014/main" id="{898312D0-1221-46C1-8203-951075BA0764}"/>
              </a:ext>
            </a:extLst>
          </p:cNvPr>
          <p:cNvSpPr>
            <a:spLocks noGrp="1"/>
          </p:cNvSpPr>
          <p:nvPr/>
        </p:nvSpPr>
        <p:spPr>
          <a:xfrm>
            <a:off x="533400" y="276225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3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3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系统架构设计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52B6F9-A2C4-491B-BE2F-9FF5AEAB3B96}"/>
              </a:ext>
            </a:extLst>
          </p:cNvPr>
          <p:cNvSpPr>
            <a:spLocks noGrp="1"/>
          </p:cNvSpPr>
          <p:nvPr/>
        </p:nvSpPr>
        <p:spPr>
          <a:xfrm>
            <a:off x="533400" y="771525"/>
            <a:ext cx="11125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系统整体架构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0460F40-C8FE-4EB4-B397-1C24523CFBDC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1125200" cy="4476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地图服务负责空间展示，Django 负责救援业务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F2E846-CE3E-447B-81FB-6B0D60988466}"/>
              </a:ext>
            </a:extLst>
          </p:cNvPr>
          <p:cNvSpPr>
            <a:spLocks noGrp="1"/>
          </p:cNvSpPr>
          <p:nvPr/>
        </p:nvSpPr>
        <p:spPr>
          <a:xfrm>
            <a:off x="533400" y="209550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0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数据层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634B5EF-0C93-4FC2-A2B0-3C81F41736CC}"/>
              </a:ext>
            </a:extLst>
          </p:cNvPr>
          <p:cNvSpPr>
            <a:spLocks noGrp="1"/>
          </p:cNvSpPr>
          <p:nvPr/>
        </p:nvSpPr>
        <p:spPr>
          <a:xfrm>
            <a:off x="4572000" y="209550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0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服务层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FF58F43-5AD4-49A4-9415-E2D964A9162C}"/>
              </a:ext>
            </a:extLst>
          </p:cNvPr>
          <p:cNvSpPr>
            <a:spLocks noGrp="1"/>
          </p:cNvSpPr>
          <p:nvPr/>
        </p:nvSpPr>
        <p:spPr>
          <a:xfrm>
            <a:off x="8610600" y="2095500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80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80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应用层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24FA0FE-06FA-4208-A4F1-B62C728BE95B}"/>
              </a:ext>
            </a:extLst>
          </p:cNvPr>
          <p:cNvSpPr>
            <a:spLocks noGrp="1"/>
          </p:cNvSpPr>
          <p:nvPr/>
        </p:nvSpPr>
        <p:spPr>
          <a:xfrm>
            <a:off x="533400" y="2609850"/>
            <a:ext cx="3048000" cy="1428750"/>
          </a:xfrm>
          <a:prstGeom prst="rect">
            <a:avLst/>
          </a:prstGeom>
          <a:solidFill>
            <a:srgbClr val="173946"/>
          </a:solidFill>
          <a:ln w="12383">
            <a:solidFill>
              <a:srgbClr val="46626C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33EC68C-8487-48E1-9A66-1C99EE9F0C8D}"/>
              </a:ext>
            </a:extLst>
          </p:cNvPr>
          <p:cNvSpPr>
            <a:spLocks noGrp="1"/>
          </p:cNvSpPr>
          <p:nvPr/>
        </p:nvSpPr>
        <p:spPr>
          <a:xfrm>
            <a:off x="723900" y="2771775"/>
            <a:ext cx="266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地图数据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673C4A2-B503-4F79-857A-585BFBE7E76B}"/>
              </a:ext>
            </a:extLst>
          </p:cNvPr>
          <p:cNvSpPr>
            <a:spLocks noGrp="1"/>
          </p:cNvSpPr>
          <p:nvPr/>
        </p:nvSpPr>
        <p:spPr>
          <a:xfrm>
            <a:off x="723900" y="3238500"/>
            <a:ext cx="2667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遥感影像（GeoTIFF）</a:t>
            </a:r>
          </a:p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专题矢量（Shapefile）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876DBDC-27CA-4FF9-8CA0-F6DBB2529B8A}"/>
              </a:ext>
            </a:extLst>
          </p:cNvPr>
          <p:cNvSpPr>
            <a:spLocks noGrp="1"/>
          </p:cNvSpPr>
          <p:nvPr/>
        </p:nvSpPr>
        <p:spPr>
          <a:xfrm>
            <a:off x="4572000" y="2609850"/>
            <a:ext cx="3048000" cy="1428750"/>
          </a:xfrm>
          <a:prstGeom prst="rect">
            <a:avLst/>
          </a:prstGeom>
          <a:solidFill>
            <a:srgbClr val="173946"/>
          </a:solidFill>
          <a:ln w="12383">
            <a:solidFill>
              <a:srgbClr val="46626C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865F812-1D49-4FFE-826F-E33CFB82C87D}"/>
              </a:ext>
            </a:extLst>
          </p:cNvPr>
          <p:cNvSpPr>
            <a:spLocks noGrp="1"/>
          </p:cNvSpPr>
          <p:nvPr/>
        </p:nvSpPr>
        <p:spPr>
          <a:xfrm>
            <a:off x="4762500" y="2771775"/>
            <a:ext cx="266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KQGIS 地图平台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89B109C-6052-4768-919C-D18E563E337E}"/>
              </a:ext>
            </a:extLst>
          </p:cNvPr>
          <p:cNvSpPr>
            <a:spLocks noGrp="1"/>
          </p:cNvSpPr>
          <p:nvPr/>
        </p:nvSpPr>
        <p:spPr>
          <a:xfrm>
            <a:off x="4762500" y="3238500"/>
            <a:ext cx="2667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Desktop 整理地图</a:t>
            </a:r>
          </a:p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Server 发布 WMS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BD49C4-30CE-4141-B16B-41F08F302DC0}"/>
              </a:ext>
            </a:extLst>
          </p:cNvPr>
          <p:cNvSpPr>
            <a:spLocks noGrp="1"/>
          </p:cNvSpPr>
          <p:nvPr/>
        </p:nvSpPr>
        <p:spPr>
          <a:xfrm>
            <a:off x="8610600" y="2609850"/>
            <a:ext cx="3048000" cy="1428750"/>
          </a:xfrm>
          <a:prstGeom prst="rect">
            <a:avLst/>
          </a:prstGeom>
          <a:solidFill>
            <a:srgbClr val="173946"/>
          </a:solidFill>
          <a:ln w="12383">
            <a:solidFill>
              <a:srgbClr val="46626C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8B22E00-90DD-4AF0-AC03-1A376F02A9EA}"/>
              </a:ext>
            </a:extLst>
          </p:cNvPr>
          <p:cNvSpPr>
            <a:spLocks noGrp="1"/>
          </p:cNvSpPr>
          <p:nvPr/>
        </p:nvSpPr>
        <p:spPr>
          <a:xfrm>
            <a:off x="8801100" y="2771775"/>
            <a:ext cx="266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指挥</a:t>
            </a:r>
            <a:r>
              <a:rPr lang="zh-CN" altLang="en-US"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决策调度</a:t>
            </a:r>
            <a:r>
              <a:rPr sz="21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端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09A20E8-AD5F-4F69-8651-288F0DBC0302}"/>
              </a:ext>
            </a:extLst>
          </p:cNvPr>
          <p:cNvSpPr>
            <a:spLocks noGrp="1"/>
          </p:cNvSpPr>
          <p:nvPr/>
        </p:nvSpPr>
        <p:spPr>
          <a:xfrm>
            <a:off x="8801100" y="3238500"/>
            <a:ext cx="2667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Vue 3 + OpenLayers</a:t>
            </a:r>
          </a:p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地图展示、落点与调度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FCDE635-D2C4-45B6-95DB-AE3AB4425FCE}"/>
              </a:ext>
            </a:extLst>
          </p:cNvPr>
          <p:cNvSpPr>
            <a:spLocks noGrp="1"/>
          </p:cNvSpPr>
          <p:nvPr/>
        </p:nvSpPr>
        <p:spPr>
          <a:xfrm>
            <a:off x="533400" y="4514850"/>
            <a:ext cx="3048000" cy="1428750"/>
          </a:xfrm>
          <a:prstGeom prst="rect">
            <a:avLst/>
          </a:prstGeom>
          <a:solidFill>
            <a:srgbClr val="173946"/>
          </a:solidFill>
          <a:ln w="12383">
            <a:solidFill>
              <a:srgbClr val="46626C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B930F09-F3CF-43BC-A1B4-CBDD6CD8D00A}"/>
              </a:ext>
            </a:extLst>
          </p:cNvPr>
          <p:cNvSpPr>
            <a:spLocks noGrp="1"/>
          </p:cNvSpPr>
          <p:nvPr/>
        </p:nvSpPr>
        <p:spPr>
          <a:xfrm>
            <a:off x="723900" y="4676775"/>
            <a:ext cx="266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业务与统计数据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1A1DFC7E-1814-427E-B54A-C8339BD11AD7}"/>
              </a:ext>
            </a:extLst>
          </p:cNvPr>
          <p:cNvSpPr>
            <a:spLocks noGrp="1"/>
          </p:cNvSpPr>
          <p:nvPr/>
        </p:nvSpPr>
        <p:spPr>
          <a:xfrm>
            <a:off x="723900" y="5143500"/>
            <a:ext cx="2667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SQLite、图片文件</a:t>
            </a:r>
          </a:p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已有 CSV / DBF 文件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B2B9F9A-69F2-4B4A-9129-794929791AEC}"/>
              </a:ext>
            </a:extLst>
          </p:cNvPr>
          <p:cNvSpPr>
            <a:spLocks noGrp="1"/>
          </p:cNvSpPr>
          <p:nvPr/>
        </p:nvSpPr>
        <p:spPr>
          <a:xfrm>
            <a:off x="4572000" y="4514850"/>
            <a:ext cx="3048000" cy="1428750"/>
          </a:xfrm>
          <a:prstGeom prst="rect">
            <a:avLst/>
          </a:prstGeom>
          <a:solidFill>
            <a:srgbClr val="173946"/>
          </a:solidFill>
          <a:ln w="12383">
            <a:solidFill>
              <a:srgbClr val="46626C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7109944-168F-4C23-9F3D-FCEBAFCC0313}"/>
              </a:ext>
            </a:extLst>
          </p:cNvPr>
          <p:cNvSpPr>
            <a:spLocks noGrp="1"/>
          </p:cNvSpPr>
          <p:nvPr/>
        </p:nvSpPr>
        <p:spPr>
          <a:xfrm>
            <a:off x="4762500" y="4676775"/>
            <a:ext cx="266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Django API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1F01FD1-ED7D-4849-82FE-F6823B2DA2E1}"/>
              </a:ext>
            </a:extLst>
          </p:cNvPr>
          <p:cNvSpPr>
            <a:spLocks noGrp="1"/>
          </p:cNvSpPr>
          <p:nvPr/>
        </p:nvSpPr>
        <p:spPr>
          <a:xfrm>
            <a:off x="4762500" y="5143500"/>
            <a:ext cx="2667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身份校验、任务与上报</a:t>
            </a:r>
          </a:p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原始 CSV / DBF 解析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6BF5703E-AAE4-4D69-964F-DE2ABDFF37B4}"/>
              </a:ext>
            </a:extLst>
          </p:cNvPr>
          <p:cNvSpPr>
            <a:spLocks noGrp="1"/>
          </p:cNvSpPr>
          <p:nvPr/>
        </p:nvSpPr>
        <p:spPr>
          <a:xfrm>
            <a:off x="8610600" y="4514850"/>
            <a:ext cx="3048000" cy="1428750"/>
          </a:xfrm>
          <a:prstGeom prst="rect">
            <a:avLst/>
          </a:prstGeom>
          <a:solidFill>
            <a:srgbClr val="173946"/>
          </a:solidFill>
          <a:ln w="12383">
            <a:solidFill>
              <a:srgbClr val="46626C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1FCE673-76CA-4F5C-A108-D26B62996C00}"/>
              </a:ext>
            </a:extLst>
          </p:cNvPr>
          <p:cNvSpPr>
            <a:spLocks noGrp="1"/>
          </p:cNvSpPr>
          <p:nvPr/>
        </p:nvSpPr>
        <p:spPr>
          <a:xfrm>
            <a:off x="8801100" y="4676775"/>
            <a:ext cx="2667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救援组长端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E29540DF-3AF4-418C-B6EB-91FBDD4874C5}"/>
              </a:ext>
            </a:extLst>
          </p:cNvPr>
          <p:cNvSpPr>
            <a:spLocks noGrp="1"/>
          </p:cNvSpPr>
          <p:nvPr/>
        </p:nvSpPr>
        <p:spPr>
          <a:xfrm>
            <a:off x="8801100" y="5143500"/>
            <a:ext cx="2667000" cy="6762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l"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手机号登录</a:t>
            </a:r>
          </a:p>
          <a:p>
            <a:pPr algn="l">
              <a:buNone/>
              <a:def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阶段上报、图片上传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DB27051-35EF-4D8B-BD4C-53C71013029D}"/>
              </a:ext>
            </a:extLst>
          </p:cNvPr>
          <p:cNvSpPr>
            <a:spLocks noGrp="1"/>
          </p:cNvSpPr>
          <p:nvPr/>
        </p:nvSpPr>
        <p:spPr>
          <a:xfrm>
            <a:off x="3629025" y="3067050"/>
            <a:ext cx="90487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buNone/>
              <a:defRPr sz="13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地图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00E47035-CDE8-4DCF-9C0B-98AEF211305B}"/>
              </a:ext>
            </a:extLst>
          </p:cNvPr>
          <p:cNvSpPr>
            <a:spLocks noGrp="1"/>
          </p:cNvSpPr>
          <p:nvPr/>
        </p:nvSpPr>
        <p:spPr>
          <a:xfrm>
            <a:off x="7677150" y="3067050"/>
            <a:ext cx="87630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3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buNone/>
              <a:defRPr sz="13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WMS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0E27E6-CA64-40C2-A317-07E37092D3ED}"/>
              </a:ext>
            </a:extLst>
          </p:cNvPr>
          <p:cNvSpPr>
            <a:spLocks noGrp="1"/>
          </p:cNvSpPr>
          <p:nvPr/>
        </p:nvSpPr>
        <p:spPr>
          <a:xfrm>
            <a:off x="7705725" y="4286250"/>
            <a:ext cx="857250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>
            <a:defPPr algn="ctr">
              <a:defRPr sz="120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buNone/>
              <a:defRPr sz="120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业务接口</a:t>
            </a:r>
          </a:p>
        </p:txBody>
      </p:sp>
    </p:spTree>
    <p:extLst>
      <p:ext uri="{BB962C8B-B14F-4D97-AF65-F5344CB8AC3E}">
        <p14:creationId xmlns:p14="http://schemas.microsoft.com/office/powerpoint/2010/main" val="1502860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D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F966C0EB-32DB-4940-9BF8-9C141D39EBCD}"/>
              </a:ext>
            </a:extLst>
          </p:cNvPr>
          <p:cNvCxnSpPr>
            <a:stCxn id="7" idx="2"/>
            <a:endCxn id="47" idx="0"/>
          </p:cNvCxnSpPr>
          <p:nvPr/>
        </p:nvCxnSpPr>
        <p:spPr>
          <a:xfrm>
            <a:off x="10191750" y="5238750"/>
            <a:ext cx="371475" cy="36195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FF74C46F-D112-43C5-A994-82233F6E03DD}"/>
              </a:ext>
            </a:extLst>
          </p:cNvPr>
          <p:cNvCxnSpPr>
            <a:stCxn id="7" idx="0"/>
            <a:endCxn id="45" idx="4"/>
          </p:cNvCxnSpPr>
          <p:nvPr/>
        </p:nvCxnSpPr>
        <p:spPr>
          <a:xfrm flipV="1">
            <a:off x="10191750" y="4133850"/>
            <a:ext cx="781050" cy="49530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B7FBB18F-859F-411E-86CC-DA93B42BAA1D}"/>
              </a:ext>
            </a:extLst>
          </p:cNvPr>
          <p:cNvCxnSpPr>
            <a:stCxn id="7" idx="0"/>
            <a:endCxn id="43" idx="4"/>
          </p:cNvCxnSpPr>
          <p:nvPr/>
        </p:nvCxnSpPr>
        <p:spPr>
          <a:xfrm flipH="1" flipV="1">
            <a:off x="9305925" y="4133850"/>
            <a:ext cx="885825" cy="49530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6E59CCAB-2AE7-4DFD-B602-0AB6D44ABF39}"/>
              </a:ext>
            </a:extLst>
          </p:cNvPr>
          <p:cNvCxnSpPr>
            <a:stCxn id="6" idx="2"/>
            <a:endCxn id="41" idx="0"/>
          </p:cNvCxnSpPr>
          <p:nvPr/>
        </p:nvCxnSpPr>
        <p:spPr>
          <a:xfrm>
            <a:off x="6096000" y="5238750"/>
            <a:ext cx="2286000" cy="36195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34178906-8475-4D65-A573-35C9F74B93D5}"/>
              </a:ext>
            </a:extLst>
          </p:cNvPr>
          <p:cNvCxnSpPr>
            <a:stCxn id="6" idx="2"/>
            <a:endCxn id="39" idx="0"/>
          </p:cNvCxnSpPr>
          <p:nvPr/>
        </p:nvCxnSpPr>
        <p:spPr>
          <a:xfrm>
            <a:off x="6096000" y="5238750"/>
            <a:ext cx="809625" cy="36195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F149B0BC-47CF-4270-BE93-538AE9CAC522}"/>
              </a:ext>
            </a:extLst>
          </p:cNvPr>
          <p:cNvCxnSpPr>
            <a:stCxn id="6" idx="2"/>
            <a:endCxn id="37" idx="0"/>
          </p:cNvCxnSpPr>
          <p:nvPr/>
        </p:nvCxnSpPr>
        <p:spPr>
          <a:xfrm flipH="1">
            <a:off x="5572125" y="5238750"/>
            <a:ext cx="523875" cy="36195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6" name="直接箭头连接符 35">
            <a:extLst>
              <a:ext uri="{FF2B5EF4-FFF2-40B4-BE49-F238E27FC236}">
                <a16:creationId xmlns:a16="http://schemas.microsoft.com/office/drawing/2014/main" id="{AD81D707-0CD7-4495-9A04-CE9BE018A028}"/>
              </a:ext>
            </a:extLst>
          </p:cNvPr>
          <p:cNvCxnSpPr>
            <a:stCxn id="6" idx="2"/>
            <a:endCxn id="35" idx="0"/>
          </p:cNvCxnSpPr>
          <p:nvPr/>
        </p:nvCxnSpPr>
        <p:spPr>
          <a:xfrm flipH="1">
            <a:off x="4119563" y="5238750"/>
            <a:ext cx="1976438" cy="36195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E4B9C811-59D0-4A45-B23A-B6FD1AA98357}"/>
              </a:ext>
            </a:extLst>
          </p:cNvPr>
          <p:cNvCxnSpPr>
            <a:stCxn id="5" idx="2"/>
            <a:endCxn id="33" idx="0"/>
          </p:cNvCxnSpPr>
          <p:nvPr/>
        </p:nvCxnSpPr>
        <p:spPr>
          <a:xfrm flipH="1">
            <a:off x="1952625" y="5238750"/>
            <a:ext cx="47625" cy="36195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28FC0F67-CE90-4B68-A213-9250745422A6}"/>
              </a:ext>
            </a:extLst>
          </p:cNvPr>
          <p:cNvCxnSpPr>
            <a:stCxn id="5" idx="0"/>
            <a:endCxn id="31" idx="4"/>
          </p:cNvCxnSpPr>
          <p:nvPr/>
        </p:nvCxnSpPr>
        <p:spPr>
          <a:xfrm flipV="1">
            <a:off x="2000250" y="4133850"/>
            <a:ext cx="1057275" cy="49530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CD41BDB-83CC-4AC3-8149-6032EBAD0043}"/>
              </a:ext>
            </a:extLst>
          </p:cNvPr>
          <p:cNvCxnSpPr>
            <a:stCxn id="5" idx="0"/>
            <a:endCxn id="29" idx="4"/>
          </p:cNvCxnSpPr>
          <p:nvPr/>
        </p:nvCxnSpPr>
        <p:spPr>
          <a:xfrm flipH="1" flipV="1">
            <a:off x="1343025" y="4133850"/>
            <a:ext cx="657225" cy="49530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5236F02-7EA3-44FF-B40C-5C352028E16A}"/>
              </a:ext>
            </a:extLst>
          </p:cNvPr>
          <p:cNvCxnSpPr>
            <a:stCxn id="4" idx="3"/>
            <a:endCxn id="27" idx="2"/>
          </p:cNvCxnSpPr>
          <p:nvPr/>
        </p:nvCxnSpPr>
        <p:spPr>
          <a:xfrm>
            <a:off x="7143750" y="3124200"/>
            <a:ext cx="809625" cy="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6" name="直接箭头连接符 25">
            <a:extLst>
              <a:ext uri="{FF2B5EF4-FFF2-40B4-BE49-F238E27FC236}">
                <a16:creationId xmlns:a16="http://schemas.microsoft.com/office/drawing/2014/main" id="{E96F1775-6540-4E00-85FF-6F651516A096}"/>
              </a:ext>
            </a:extLst>
          </p:cNvPr>
          <p:cNvCxnSpPr>
            <a:stCxn id="4" idx="0"/>
            <a:endCxn id="25" idx="4"/>
          </p:cNvCxnSpPr>
          <p:nvPr/>
        </p:nvCxnSpPr>
        <p:spPr>
          <a:xfrm flipV="1">
            <a:off x="6096000" y="2533650"/>
            <a:ext cx="676275" cy="30480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357FC5F0-2C37-4AFC-B310-3589142082FC}"/>
              </a:ext>
            </a:extLst>
          </p:cNvPr>
          <p:cNvCxnSpPr>
            <a:cxnSpLocks/>
            <a:stCxn id="4" idx="0"/>
            <a:endCxn id="23" idx="4"/>
          </p:cNvCxnSpPr>
          <p:nvPr/>
        </p:nvCxnSpPr>
        <p:spPr>
          <a:xfrm flipH="1" flipV="1">
            <a:off x="4770718" y="2533650"/>
            <a:ext cx="1325282" cy="30480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DBA549F4-3AA6-406C-BBF4-E9CBE844C15B}"/>
              </a:ext>
            </a:extLst>
          </p:cNvPr>
          <p:cNvCxnSpPr>
            <a:stCxn id="10" idx="3"/>
            <a:endCxn id="7" idx="1"/>
          </p:cNvCxnSpPr>
          <p:nvPr/>
        </p:nvCxnSpPr>
        <p:spPr>
          <a:xfrm>
            <a:off x="8715375" y="4933950"/>
            <a:ext cx="428625" cy="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9E0BA5D5-A5C3-496A-B4AA-F586D6E2C07D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7143750" y="4933950"/>
            <a:ext cx="542925" cy="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F9DF652-9FEF-41C1-A1F4-31ACBAFD5316}"/>
              </a:ext>
            </a:extLst>
          </p:cNvPr>
          <p:cNvCxnSpPr>
            <a:stCxn id="9" idx="3"/>
            <a:endCxn id="6" idx="1"/>
          </p:cNvCxnSpPr>
          <p:nvPr/>
        </p:nvCxnSpPr>
        <p:spPr>
          <a:xfrm>
            <a:off x="4695825" y="4933950"/>
            <a:ext cx="352425" cy="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FB21164A-74FC-4421-B820-D8B9E32CB7DC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3048000" y="4933950"/>
            <a:ext cx="619125" cy="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C883FA2B-0154-4C5D-8335-CDCE3DB7F409}"/>
              </a:ext>
            </a:extLst>
          </p:cNvPr>
          <p:cNvCxnSpPr>
            <a:stCxn id="8" idx="2"/>
            <a:endCxn id="6" idx="0"/>
          </p:cNvCxnSpPr>
          <p:nvPr/>
        </p:nvCxnSpPr>
        <p:spPr>
          <a:xfrm>
            <a:off x="6096000" y="4305300"/>
            <a:ext cx="0" cy="32385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119809EF-3D78-4A0D-8A8D-33D548D4756A}"/>
              </a:ext>
            </a:extLst>
          </p:cNvPr>
          <p:cNvCxnSpPr>
            <a:stCxn id="4" idx="2"/>
            <a:endCxn id="8" idx="0"/>
          </p:cNvCxnSpPr>
          <p:nvPr/>
        </p:nvCxnSpPr>
        <p:spPr>
          <a:xfrm>
            <a:off x="6096000" y="3409950"/>
            <a:ext cx="0" cy="266700"/>
          </a:xfrm>
          <a:prstGeom prst="straightConnector1">
            <a:avLst/>
          </a:prstGeom>
          <a:ln w="14288">
            <a:solidFill>
              <a:srgbClr val="9DDED1"/>
            </a:solidFill>
            <a:prstDash val="solid"/>
            <a:headEnd type="none" w="med" len="med"/>
            <a:tailEnd type="none" w="med" len="med"/>
          </a:ln>
        </p:spPr>
      </p:cxnSp>
      <p:sp>
        <p:nvSpPr>
          <p:cNvPr id="51" name="矩形 50">
            <a:extLst>
              <a:ext uri="{FF2B5EF4-FFF2-40B4-BE49-F238E27FC236}">
                <a16:creationId xmlns:a16="http://schemas.microsoft.com/office/drawing/2014/main" id="{C559DDE0-4928-49A2-95F1-4A731C78EEEC}"/>
              </a:ext>
            </a:extLst>
          </p:cNvPr>
          <p:cNvSpPr>
            <a:spLocks noGrp="1"/>
          </p:cNvSpPr>
          <p:nvPr/>
        </p:nvSpPr>
        <p:spPr>
          <a:xfrm>
            <a:off x="533400" y="276225"/>
            <a:ext cx="106680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3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3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数据库概念设计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8058DE0-4974-4F1B-A57B-5AFB70317DE8}"/>
              </a:ext>
            </a:extLst>
          </p:cNvPr>
          <p:cNvSpPr>
            <a:spLocks noGrp="1"/>
          </p:cNvSpPr>
          <p:nvPr/>
        </p:nvSpPr>
        <p:spPr>
          <a:xfrm>
            <a:off x="533400" y="771525"/>
            <a:ext cx="11125200" cy="685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核心业务 E-R 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9C7521A-770A-4A0A-B9FF-830F7A2E9A4C}"/>
              </a:ext>
            </a:extLst>
          </p:cNvPr>
          <p:cNvSpPr>
            <a:spLocks noGrp="1"/>
          </p:cNvSpPr>
          <p:nvPr/>
        </p:nvSpPr>
        <p:spPr>
          <a:xfrm>
            <a:off x="533400" y="1504950"/>
            <a:ext cx="11125200" cy="4095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l">
              <a:def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l">
              <a:def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四类实体及其联系，仅列主要属性</a:t>
            </a:r>
          </a:p>
        </p:txBody>
      </p:sp>
      <p:sp>
        <p:nvSpPr>
          <p:cNvPr id="4" name="rect: 管理员">
            <a:extLst>
              <a:ext uri="{FF2B5EF4-FFF2-40B4-BE49-F238E27FC236}">
                <a16:creationId xmlns:a16="http://schemas.microsoft.com/office/drawing/2014/main" id="{680F078D-A8CB-41BE-93BD-28028585EA5F}"/>
              </a:ext>
            </a:extLst>
          </p:cNvPr>
          <p:cNvSpPr>
            <a:spLocks noGrp="1"/>
          </p:cNvSpPr>
          <p:nvPr/>
        </p:nvSpPr>
        <p:spPr>
          <a:xfrm>
            <a:off x="5048250" y="2838450"/>
            <a:ext cx="2095500" cy="571500"/>
          </a:xfrm>
          <a:prstGeom prst="rect">
            <a:avLst/>
          </a:prstGeom>
          <a:solidFill>
            <a:srgbClr val="214551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指挥决策调度者</a:t>
            </a:r>
            <a:endParaRPr sz="2025" b="1" dirty="0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rect: 救援队伍">
            <a:extLst>
              <a:ext uri="{FF2B5EF4-FFF2-40B4-BE49-F238E27FC236}">
                <a16:creationId xmlns:a16="http://schemas.microsoft.com/office/drawing/2014/main" id="{F1E9D21C-2C9D-459F-90AF-2D5C38A6C134}"/>
              </a:ext>
            </a:extLst>
          </p:cNvPr>
          <p:cNvSpPr>
            <a:spLocks noGrp="1"/>
          </p:cNvSpPr>
          <p:nvPr/>
        </p:nvSpPr>
        <p:spPr>
          <a:xfrm>
            <a:off x="952500" y="4629150"/>
            <a:ext cx="2095500" cy="609600"/>
          </a:xfrm>
          <a:prstGeom prst="rect">
            <a:avLst/>
          </a:prstGeom>
          <a:solidFill>
            <a:srgbClr val="214551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救援队伍</a:t>
            </a:r>
          </a:p>
        </p:txBody>
      </p:sp>
      <p:sp>
        <p:nvSpPr>
          <p:cNvPr id="6" name="rect: 任务点位">
            <a:extLst>
              <a:ext uri="{FF2B5EF4-FFF2-40B4-BE49-F238E27FC236}">
                <a16:creationId xmlns:a16="http://schemas.microsoft.com/office/drawing/2014/main" id="{81094857-CDC8-4DD1-A3F0-8320D9FE9A23}"/>
              </a:ext>
            </a:extLst>
          </p:cNvPr>
          <p:cNvSpPr>
            <a:spLocks noGrp="1"/>
          </p:cNvSpPr>
          <p:nvPr/>
        </p:nvSpPr>
        <p:spPr>
          <a:xfrm>
            <a:off x="5048250" y="4629150"/>
            <a:ext cx="2095500" cy="609600"/>
          </a:xfrm>
          <a:prstGeom prst="rect">
            <a:avLst/>
          </a:prstGeom>
          <a:solidFill>
            <a:srgbClr val="214551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任务点位</a:t>
            </a:r>
          </a:p>
        </p:txBody>
      </p:sp>
      <p:sp>
        <p:nvSpPr>
          <p:cNvPr id="7" name="rect: 任务上报">
            <a:extLst>
              <a:ext uri="{FF2B5EF4-FFF2-40B4-BE49-F238E27FC236}">
                <a16:creationId xmlns:a16="http://schemas.microsoft.com/office/drawing/2014/main" id="{9FFAC72B-93DB-4BEF-9704-C3029C3B8A5A}"/>
              </a:ext>
            </a:extLst>
          </p:cNvPr>
          <p:cNvSpPr>
            <a:spLocks noGrp="1"/>
          </p:cNvSpPr>
          <p:nvPr/>
        </p:nvSpPr>
        <p:spPr>
          <a:xfrm>
            <a:off x="9144000" y="4629150"/>
            <a:ext cx="2095500" cy="609600"/>
          </a:xfrm>
          <a:prstGeom prst="rect">
            <a:avLst/>
          </a:prstGeom>
          <a:solidFill>
            <a:srgbClr val="214551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任务上报</a:t>
            </a:r>
          </a:p>
        </p:txBody>
      </p:sp>
      <p:sp>
        <p:nvSpPr>
          <p:cNvPr id="8" name="diamond: 创建">
            <a:extLst>
              <a:ext uri="{FF2B5EF4-FFF2-40B4-BE49-F238E27FC236}">
                <a16:creationId xmlns:a16="http://schemas.microsoft.com/office/drawing/2014/main" id="{1A826F39-8253-4D52-B8ED-1BD4A10E0E79}"/>
              </a:ext>
            </a:extLst>
          </p:cNvPr>
          <p:cNvSpPr>
            <a:spLocks noGrp="1"/>
          </p:cNvSpPr>
          <p:nvPr/>
        </p:nvSpPr>
        <p:spPr>
          <a:xfrm>
            <a:off x="5619750" y="3676650"/>
            <a:ext cx="952500" cy="628650"/>
          </a:xfrm>
          <a:prstGeom prst="diamond">
            <a:avLst/>
          </a:prstGeom>
          <a:solidFill>
            <a:srgbClr val="1D424B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9" name="diamond: 执行">
            <a:extLst>
              <a:ext uri="{FF2B5EF4-FFF2-40B4-BE49-F238E27FC236}">
                <a16:creationId xmlns:a16="http://schemas.microsoft.com/office/drawing/2014/main" id="{AB56272F-4DE5-4006-90DF-B74D046C3EE2}"/>
              </a:ext>
            </a:extLst>
          </p:cNvPr>
          <p:cNvSpPr>
            <a:spLocks noGrp="1"/>
          </p:cNvSpPr>
          <p:nvPr/>
        </p:nvSpPr>
        <p:spPr>
          <a:xfrm>
            <a:off x="3667125" y="4600575"/>
            <a:ext cx="1028700" cy="666750"/>
          </a:xfrm>
          <a:prstGeom prst="diamond">
            <a:avLst/>
          </a:prstGeom>
          <a:solidFill>
            <a:srgbClr val="1D424B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执行</a:t>
            </a:r>
          </a:p>
        </p:txBody>
      </p:sp>
      <p:sp>
        <p:nvSpPr>
          <p:cNvPr id="10" name="diamond: 产生">
            <a:extLst>
              <a:ext uri="{FF2B5EF4-FFF2-40B4-BE49-F238E27FC236}">
                <a16:creationId xmlns:a16="http://schemas.microsoft.com/office/drawing/2014/main" id="{7B3749BD-C63E-4C75-AD67-2E6E7F81AD19}"/>
              </a:ext>
            </a:extLst>
          </p:cNvPr>
          <p:cNvSpPr>
            <a:spLocks noGrp="1"/>
          </p:cNvSpPr>
          <p:nvPr/>
        </p:nvSpPr>
        <p:spPr>
          <a:xfrm>
            <a:off x="7686675" y="4600575"/>
            <a:ext cx="1028700" cy="666750"/>
          </a:xfrm>
          <a:prstGeom prst="diamond">
            <a:avLst/>
          </a:prstGeom>
          <a:solidFill>
            <a:srgbClr val="1D424B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72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72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产生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A3D122E-1A51-454E-B35B-5FCB89DE305C}"/>
              </a:ext>
            </a:extLst>
          </p:cNvPr>
          <p:cNvSpPr>
            <a:spLocks noGrp="1"/>
          </p:cNvSpPr>
          <p:nvPr/>
        </p:nvSpPr>
        <p:spPr>
          <a:xfrm>
            <a:off x="6200775" y="34099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A5C41D-A84C-4F23-A8D0-9C5B14D3298B}"/>
              </a:ext>
            </a:extLst>
          </p:cNvPr>
          <p:cNvSpPr>
            <a:spLocks noGrp="1"/>
          </p:cNvSpPr>
          <p:nvPr/>
        </p:nvSpPr>
        <p:spPr>
          <a:xfrm>
            <a:off x="6200775" y="43243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596ADB7-540C-43C8-845E-31E37DB39366}"/>
              </a:ext>
            </a:extLst>
          </p:cNvPr>
          <p:cNvSpPr>
            <a:spLocks noGrp="1"/>
          </p:cNvSpPr>
          <p:nvPr/>
        </p:nvSpPr>
        <p:spPr>
          <a:xfrm>
            <a:off x="3171825" y="45529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03707FC-FD69-4D0C-9F10-91AC0F3A31DA}"/>
              </a:ext>
            </a:extLst>
          </p:cNvPr>
          <p:cNvSpPr>
            <a:spLocks noGrp="1"/>
          </p:cNvSpPr>
          <p:nvPr/>
        </p:nvSpPr>
        <p:spPr>
          <a:xfrm>
            <a:off x="4705350" y="45529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C8C22595-DC56-41AB-BB0A-B30ED65B1EEE}"/>
              </a:ext>
            </a:extLst>
          </p:cNvPr>
          <p:cNvSpPr>
            <a:spLocks noGrp="1"/>
          </p:cNvSpPr>
          <p:nvPr/>
        </p:nvSpPr>
        <p:spPr>
          <a:xfrm>
            <a:off x="7277100" y="45529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24CE655-A2C8-4DDC-9CA2-876811CE2306}"/>
              </a:ext>
            </a:extLst>
          </p:cNvPr>
          <p:cNvSpPr>
            <a:spLocks noGrp="1"/>
          </p:cNvSpPr>
          <p:nvPr/>
        </p:nvSpPr>
        <p:spPr>
          <a:xfrm>
            <a:off x="8772525" y="4552950"/>
            <a:ext cx="333375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23" name="ellipse: 管理员ID">
            <a:extLst>
              <a:ext uri="{FF2B5EF4-FFF2-40B4-BE49-F238E27FC236}">
                <a16:creationId xmlns:a16="http://schemas.microsoft.com/office/drawing/2014/main" id="{F657AEFD-FF32-4E82-BA2D-D1E295FF97C4}"/>
              </a:ext>
            </a:extLst>
          </p:cNvPr>
          <p:cNvSpPr>
            <a:spLocks noGrp="1"/>
          </p:cNvSpPr>
          <p:nvPr/>
        </p:nvSpPr>
        <p:spPr>
          <a:xfrm>
            <a:off x="3902635" y="2095500"/>
            <a:ext cx="1736165" cy="43815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75" u="sng" dirty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指挥决策调度者</a:t>
            </a:r>
            <a:r>
              <a:rPr sz="1575" b="0" u="sng" dirty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ID</a:t>
            </a:r>
          </a:p>
        </p:txBody>
      </p:sp>
      <p:sp>
        <p:nvSpPr>
          <p:cNvPr id="25" name="ellipse: 账号">
            <a:extLst>
              <a:ext uri="{FF2B5EF4-FFF2-40B4-BE49-F238E27FC236}">
                <a16:creationId xmlns:a16="http://schemas.microsoft.com/office/drawing/2014/main" id="{C9421F4A-38A4-4F65-8CF9-87B44576F5B8}"/>
              </a:ext>
            </a:extLst>
          </p:cNvPr>
          <p:cNvSpPr>
            <a:spLocks noGrp="1"/>
          </p:cNvSpPr>
          <p:nvPr/>
        </p:nvSpPr>
        <p:spPr>
          <a:xfrm>
            <a:off x="6057900" y="2114550"/>
            <a:ext cx="142875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账号</a:t>
            </a:r>
          </a:p>
        </p:txBody>
      </p:sp>
      <p:sp>
        <p:nvSpPr>
          <p:cNvPr id="27" name="ellipse: 密码哈希">
            <a:extLst>
              <a:ext uri="{FF2B5EF4-FFF2-40B4-BE49-F238E27FC236}">
                <a16:creationId xmlns:a16="http://schemas.microsoft.com/office/drawing/2014/main" id="{E79426BA-B837-4E6D-8766-E379791B5442}"/>
              </a:ext>
            </a:extLst>
          </p:cNvPr>
          <p:cNvSpPr>
            <a:spLocks noGrp="1"/>
          </p:cNvSpPr>
          <p:nvPr/>
        </p:nvSpPr>
        <p:spPr>
          <a:xfrm>
            <a:off x="7953375" y="2914650"/>
            <a:ext cx="171450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密码哈希</a:t>
            </a:r>
          </a:p>
        </p:txBody>
      </p:sp>
      <p:sp>
        <p:nvSpPr>
          <p:cNvPr id="29" name="ellipse: 队伍ID">
            <a:extLst>
              <a:ext uri="{FF2B5EF4-FFF2-40B4-BE49-F238E27FC236}">
                <a16:creationId xmlns:a16="http://schemas.microsoft.com/office/drawing/2014/main" id="{2C63644A-D569-454C-917F-BDCA95B69B88}"/>
              </a:ext>
            </a:extLst>
          </p:cNvPr>
          <p:cNvSpPr>
            <a:spLocks noGrp="1"/>
          </p:cNvSpPr>
          <p:nvPr/>
        </p:nvSpPr>
        <p:spPr>
          <a:xfrm>
            <a:off x="628650" y="3714750"/>
            <a:ext cx="142875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队伍ID</a:t>
            </a:r>
          </a:p>
        </p:txBody>
      </p:sp>
      <p:sp>
        <p:nvSpPr>
          <p:cNvPr id="31" name="ellipse: 队伍名称">
            <a:extLst>
              <a:ext uri="{FF2B5EF4-FFF2-40B4-BE49-F238E27FC236}">
                <a16:creationId xmlns:a16="http://schemas.microsoft.com/office/drawing/2014/main" id="{119F6103-F27B-4A15-93BE-5343BE97C72B}"/>
              </a:ext>
            </a:extLst>
          </p:cNvPr>
          <p:cNvSpPr>
            <a:spLocks noGrp="1"/>
          </p:cNvSpPr>
          <p:nvPr/>
        </p:nvSpPr>
        <p:spPr>
          <a:xfrm>
            <a:off x="2343150" y="3714750"/>
            <a:ext cx="142875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队伍名称</a:t>
            </a:r>
          </a:p>
        </p:txBody>
      </p:sp>
      <p:sp>
        <p:nvSpPr>
          <p:cNvPr id="33" name="ellipse: 组长手机号">
            <a:extLst>
              <a:ext uri="{FF2B5EF4-FFF2-40B4-BE49-F238E27FC236}">
                <a16:creationId xmlns:a16="http://schemas.microsoft.com/office/drawing/2014/main" id="{3398C942-184B-4258-B163-89B07026B6FF}"/>
              </a:ext>
            </a:extLst>
          </p:cNvPr>
          <p:cNvSpPr>
            <a:spLocks noGrp="1"/>
          </p:cNvSpPr>
          <p:nvPr/>
        </p:nvSpPr>
        <p:spPr>
          <a:xfrm>
            <a:off x="1095375" y="5600700"/>
            <a:ext cx="171450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组长手机号</a:t>
            </a:r>
          </a:p>
        </p:txBody>
      </p:sp>
      <p:sp>
        <p:nvSpPr>
          <p:cNvPr id="35" name="ellipse: 点位ID">
            <a:extLst>
              <a:ext uri="{FF2B5EF4-FFF2-40B4-BE49-F238E27FC236}">
                <a16:creationId xmlns:a16="http://schemas.microsoft.com/office/drawing/2014/main" id="{C64C6090-6D64-4B52-896F-A843D825D06D}"/>
              </a:ext>
            </a:extLst>
          </p:cNvPr>
          <p:cNvSpPr>
            <a:spLocks noGrp="1"/>
          </p:cNvSpPr>
          <p:nvPr/>
        </p:nvSpPr>
        <p:spPr>
          <a:xfrm>
            <a:off x="3429000" y="5600700"/>
            <a:ext cx="1381125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点位ID</a:t>
            </a:r>
          </a:p>
        </p:txBody>
      </p:sp>
      <p:sp>
        <p:nvSpPr>
          <p:cNvPr id="37" name="ellipse: 经度">
            <a:extLst>
              <a:ext uri="{FF2B5EF4-FFF2-40B4-BE49-F238E27FC236}">
                <a16:creationId xmlns:a16="http://schemas.microsoft.com/office/drawing/2014/main" id="{7E1641BE-B081-4405-97EE-A8A78E112F82}"/>
              </a:ext>
            </a:extLst>
          </p:cNvPr>
          <p:cNvSpPr>
            <a:spLocks noGrp="1"/>
          </p:cNvSpPr>
          <p:nvPr/>
        </p:nvSpPr>
        <p:spPr>
          <a:xfrm>
            <a:off x="5000625" y="5600700"/>
            <a:ext cx="114300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经度</a:t>
            </a:r>
          </a:p>
        </p:txBody>
      </p:sp>
      <p:sp>
        <p:nvSpPr>
          <p:cNvPr id="39" name="ellipse: 纬度">
            <a:extLst>
              <a:ext uri="{FF2B5EF4-FFF2-40B4-BE49-F238E27FC236}">
                <a16:creationId xmlns:a16="http://schemas.microsoft.com/office/drawing/2014/main" id="{436FF4D6-E141-4B3A-B6C2-158B4E8372E0}"/>
              </a:ext>
            </a:extLst>
          </p:cNvPr>
          <p:cNvSpPr>
            <a:spLocks noGrp="1"/>
          </p:cNvSpPr>
          <p:nvPr/>
        </p:nvSpPr>
        <p:spPr>
          <a:xfrm>
            <a:off x="6334125" y="5600700"/>
            <a:ext cx="114300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纬度</a:t>
            </a:r>
          </a:p>
        </p:txBody>
      </p:sp>
      <p:sp>
        <p:nvSpPr>
          <p:cNvPr id="41" name="ellipse: 任务编号">
            <a:extLst>
              <a:ext uri="{FF2B5EF4-FFF2-40B4-BE49-F238E27FC236}">
                <a16:creationId xmlns:a16="http://schemas.microsoft.com/office/drawing/2014/main" id="{86CAA378-2629-478C-8717-4814E337A45F}"/>
              </a:ext>
            </a:extLst>
          </p:cNvPr>
          <p:cNvSpPr>
            <a:spLocks noGrp="1"/>
          </p:cNvSpPr>
          <p:nvPr/>
        </p:nvSpPr>
        <p:spPr>
          <a:xfrm>
            <a:off x="7667625" y="5600700"/>
            <a:ext cx="142875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任务编号</a:t>
            </a:r>
          </a:p>
        </p:txBody>
      </p:sp>
      <p:sp>
        <p:nvSpPr>
          <p:cNvPr id="43" name="ellipse: 上报ID">
            <a:extLst>
              <a:ext uri="{FF2B5EF4-FFF2-40B4-BE49-F238E27FC236}">
                <a16:creationId xmlns:a16="http://schemas.microsoft.com/office/drawing/2014/main" id="{356A565B-8F90-44CD-8F33-D1F3CC324B85}"/>
              </a:ext>
            </a:extLst>
          </p:cNvPr>
          <p:cNvSpPr>
            <a:spLocks noGrp="1"/>
          </p:cNvSpPr>
          <p:nvPr/>
        </p:nvSpPr>
        <p:spPr>
          <a:xfrm>
            <a:off x="8591550" y="3714750"/>
            <a:ext cx="142875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 u="sng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上报ID</a:t>
            </a:r>
          </a:p>
        </p:txBody>
      </p:sp>
      <p:sp>
        <p:nvSpPr>
          <p:cNvPr id="45" name="ellipse: 图片路径">
            <a:extLst>
              <a:ext uri="{FF2B5EF4-FFF2-40B4-BE49-F238E27FC236}">
                <a16:creationId xmlns:a16="http://schemas.microsoft.com/office/drawing/2014/main" id="{F29F47EE-2005-496A-81EC-96ED2D2E7FCF}"/>
              </a:ext>
            </a:extLst>
          </p:cNvPr>
          <p:cNvSpPr>
            <a:spLocks noGrp="1"/>
          </p:cNvSpPr>
          <p:nvPr/>
        </p:nvSpPr>
        <p:spPr>
          <a:xfrm>
            <a:off x="10287000" y="3714750"/>
            <a:ext cx="137160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图片路径</a:t>
            </a:r>
          </a:p>
        </p:txBody>
      </p:sp>
      <p:sp>
        <p:nvSpPr>
          <p:cNvPr id="47" name="ellipse: 上报时间">
            <a:extLst>
              <a:ext uri="{FF2B5EF4-FFF2-40B4-BE49-F238E27FC236}">
                <a16:creationId xmlns:a16="http://schemas.microsoft.com/office/drawing/2014/main" id="{BA8F3336-1BB7-4362-8632-4A963AA2F35C}"/>
              </a:ext>
            </a:extLst>
          </p:cNvPr>
          <p:cNvSpPr>
            <a:spLocks noGrp="1"/>
          </p:cNvSpPr>
          <p:nvPr/>
        </p:nvSpPr>
        <p:spPr>
          <a:xfrm>
            <a:off x="9658350" y="5600700"/>
            <a:ext cx="1809750" cy="419100"/>
          </a:xfrm>
          <a:prstGeom prst="ellipse">
            <a:avLst/>
          </a:prstGeom>
          <a:solidFill>
            <a:srgbClr val="112D38"/>
          </a:solidFill>
          <a:ln w="16193">
            <a:solidFill>
              <a:srgbClr val="9DDED1"/>
            </a:solidFill>
            <a:prstDash val="solid"/>
          </a:ln>
        </p:spPr>
        <p:txBody>
          <a:bodyPr wrap="none" lIns="0" tIns="0" rIns="0" bIns="0" anchor="ctr">
            <a:noAutofit/>
          </a:bodyPr>
          <a:lstStyle>
            <a:def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algn="ctr">
              <a:def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上报时间</a:t>
            </a:r>
          </a:p>
        </p:txBody>
      </p:sp>
    </p:spTree>
    <p:extLst>
      <p:ext uri="{BB962C8B-B14F-4D97-AF65-F5344CB8AC3E}">
        <p14:creationId xmlns:p14="http://schemas.microsoft.com/office/powerpoint/2010/main" val="1185108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E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>
            <a:extLst>
              <a:ext uri="{FF2B5EF4-FFF2-40B4-BE49-F238E27FC236}">
                <a16:creationId xmlns:a16="http://schemas.microsoft.com/office/drawing/2014/main" id="{765DE5C8-E335-4861-B2B1-E1A2EF3E03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389" r="9389"/>
          <a:stretch>
            <a:fillRect/>
          </a:stretch>
        </p:blipFill>
        <p:spPr>
          <a:xfrm>
            <a:off x="4762500" y="0"/>
            <a:ext cx="74295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2BF037F-C381-4A1B-8A23-01A6A7F6770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4762500" cy="6858000"/>
          </a:xfrm>
          <a:prstGeom prst="rect">
            <a:avLst/>
          </a:prstGeom>
          <a:solidFill>
            <a:srgbClr val="142E39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939ECA-5FA6-4F69-8511-355C724BC684}"/>
              </a:ext>
            </a:extLst>
          </p:cNvPr>
          <p:cNvSpPr>
            <a:spLocks noGrp="1"/>
          </p:cNvSpPr>
          <p:nvPr/>
        </p:nvSpPr>
        <p:spPr>
          <a:xfrm>
            <a:off x="457200" y="2209800"/>
            <a:ext cx="4181475" cy="1619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接下来，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进入现场演示。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407833-785E-47F4-9E51-ADBEA4C9BA28}"/>
              </a:ext>
            </a:extLst>
          </p:cNvPr>
          <p:cNvSpPr>
            <a:spLocks noGrp="1"/>
          </p:cNvSpPr>
          <p:nvPr/>
        </p:nvSpPr>
        <p:spPr>
          <a:xfrm>
            <a:off x="457200" y="4629150"/>
            <a:ext cx="4095750" cy="895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950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i="0" u="none" strike="noStrike" cap="none" spc="0" baseline="0">
                <a:ln>
                  <a:noFill/>
                </a:ln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基于 KQGIS 的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950" b="0"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 i="0" u="none" strike="noStrike" cap="none" spc="0" baseline="0">
                <a:ln>
                  <a:noFill/>
                </a:ln>
                <a:solidFill>
                  <a:srgbClr val="C9D6D9"/>
                </a:solidFill>
                <a:latin typeface="Microsoft YaHei"/>
                <a:ea typeface="Microsoft YaHei"/>
                <a:cs typeface="Microsoft YaHei"/>
              </a:rPr>
              <a:t>地质灾害监测救援部署系统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7801B88-2AC3-4A15-B541-160BA3A5AEC9}"/>
              </a:ext>
            </a:extLst>
          </p:cNvPr>
          <p:cNvSpPr>
            <a:spLocks noGrp="1"/>
          </p:cNvSpPr>
          <p:nvPr/>
        </p:nvSpPr>
        <p:spPr>
          <a:xfrm>
            <a:off x="457200" y="5857875"/>
            <a:ext cx="4048125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650" b="0"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i="0" u="none" strike="noStrike" cap="none" spc="0" baseline="0">
                <a:ln>
                  <a:noFill/>
                </a:ln>
                <a:solidFill>
                  <a:srgbClr val="9DDED1"/>
                </a:solidFill>
                <a:latin typeface="Microsoft YaHei"/>
                <a:ea typeface="Microsoft YaHei"/>
                <a:cs typeface="Microsoft YaHei"/>
              </a:rPr>
              <a:t>以吉隆口岸泥石流灾害为例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C7990FC-D556-40B7-ACF8-858CBA638FD7}"/>
              </a:ext>
            </a:extLst>
          </p:cNvPr>
          <p:cNvSpPr>
            <a:spLocks noGrp="1"/>
          </p:cNvSpPr>
          <p:nvPr/>
        </p:nvSpPr>
        <p:spPr>
          <a:xfrm>
            <a:off x="7572375" y="6315075"/>
            <a:ext cx="4619625" cy="542925"/>
          </a:xfrm>
          <a:prstGeom prst="rect">
            <a:avLst/>
          </a:prstGeom>
          <a:solidFill>
            <a:srgbClr val="142E39">
              <a:alpha val="85000"/>
            </a:srgbClr>
          </a:solidFill>
          <a:ln w="0">
            <a:noFill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9499EF9-8C9A-4B61-B791-368031DEA3BA}"/>
              </a:ext>
            </a:extLst>
          </p:cNvPr>
          <p:cNvSpPr>
            <a:spLocks noGrp="1"/>
          </p:cNvSpPr>
          <p:nvPr/>
        </p:nvSpPr>
        <p:spPr>
          <a:xfrm>
            <a:off x="7734300" y="6477000"/>
            <a:ext cx="431482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</a:lstStyle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11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 i="0" u="none" strike="noStrike" cap="none" spc="0" baseline="0">
                <a:ln>
                  <a:noFill/>
                </a:ln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图：新华社 姜帆摄 · 2026.09.02 救援现场</a:t>
            </a:r>
          </a:p>
        </p:txBody>
      </p:sp>
    </p:spTree>
    <p:extLst>
      <p:ext uri="{BB962C8B-B14F-4D97-AF65-F5344CB8AC3E}">
        <p14:creationId xmlns:p14="http://schemas.microsoft.com/office/powerpoint/2010/main" val="14174998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184</Words>
  <Application>Microsoft Office PowerPoint</Application>
  <DocSecurity>0</DocSecurity>
  <PresentationFormat>宽屏</PresentationFormat>
  <Paragraphs>76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9" baseType="lpstr">
      <vt:lpstr>Microsoft YaHei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华奏 立</cp:lastModifiedBy>
  <cp:revision>4</cp:revision>
  <dcterms:created xsi:type="dcterms:W3CDTF">2026-10-07T10:20:32Z</dcterms:created>
  <dcterms:modified xsi:type="dcterms:W3CDTF">2026-10-07T12:29:31Z</dcterms:modified>
</cp:coreProperties>
</file>